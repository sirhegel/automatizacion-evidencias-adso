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visitbogota.co/en/what-to-do-in-bogota/nature/monserrate-hil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ilica_monserrate.jpg"/>
          <p:cNvPicPr>
            <a:picLocks noChangeAspect="1"/>
          </p:cNvPicPr>
          <p:nvPr/>
        </p:nvPicPr>
        <p:blipFill>
          <a:blip r:embed="rId2"/>
          <a:srcRect l="20158" r="20158"/>
          <a:stretch>
            <a:fillRect/>
          </a:stretch>
        </p:blipFill>
        <p:spPr>
          <a:xfrm>
            <a:off x="4892040" y="0"/>
            <a:ext cx="72969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73168" y="0"/>
            <a:ext cx="118872" cy="6858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3749039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3C9DD"/>
                </a:solidFill>
                <a:latin typeface="Lato"/>
              </a:rPr>
              <a:t>SENA  ·  ENGLISH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38404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Lato"/>
              </a:rPr>
              <a:t>MONSERRATE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374903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3C9DD"/>
                </a:solidFill>
                <a:latin typeface="Lato"/>
              </a:rPr>
              <a:t>Bogotá from the Sky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36118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Lato"/>
              </a:rPr>
              <a:t>A tourist site where nature, culture, religion, and city life meet.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77639"/>
            <a:ext cx="3584448" cy="777240"/>
          </a:xfrm>
          <a:prstGeom prst="round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224528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1C"/>
                </a:solidFill>
                <a:latin typeface="Lato"/>
              </a:rPr>
              <a:t>Jhon Steven Alvarez Ruiz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199632"/>
            <a:ext cx="3749039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3E8E3"/>
                </a:solidFill>
                <a:latin typeface="Lato"/>
              </a:rPr>
              <a:t>GA2-240202501-AA2-EV02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6035040"/>
            <a:ext cx="4672584" cy="82296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6254496"/>
            <a:ext cx="4114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Lato"/>
              </a:rPr>
              <a:t>BOGOTÁ FROM THE 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A900"/>
                </a:solidFill>
                <a:latin typeface="Lato"/>
              </a:rPr>
              <a:t>01  ·  WHERE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9875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31C"/>
                </a:solidFill>
                <a:latin typeface="Lato"/>
              </a:rPr>
              <a:t>Location and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0881360" cy="32004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63040"/>
            <a:ext cx="3886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23B2A"/>
                </a:solidFill>
                <a:latin typeface="Lato"/>
              </a:rPr>
              <a:t>EASTERN HILLS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17067"/>
                </a:solidFill>
                <a:latin typeface="Lato"/>
              </a:rPr>
              <a:t>Santa Fe · Bogotá · Colombia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514600"/>
            <a:ext cx="3611880" cy="1234440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724912"/>
            <a:ext cx="19202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Lato"/>
              </a:rPr>
              <a:t>3,152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27832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3C9DD"/>
                </a:solidFill>
                <a:latin typeface="Lato"/>
              </a:rPr>
              <a:t>ABOVE SEA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16052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92524"/>
            <a:ext cx="104241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Lato"/>
              </a:rPr>
              <a:t>CABLE CAR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3392" y="416052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EA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4192524"/>
            <a:ext cx="104241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3B2A"/>
                </a:solidFill>
                <a:latin typeface="Lato"/>
              </a:rPr>
              <a:t>FUNICULAR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41605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C7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4192524"/>
            <a:ext cx="1170431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WALKING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37760"/>
            <a:ext cx="379476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31C"/>
                </a:solidFill>
                <a:latin typeface="Lato"/>
              </a:rPr>
              <a:t>Near Bogotá’s historic city center</a:t>
            </a:r>
          </a:p>
        </p:txBody>
      </p:sp>
      <p:pic>
        <p:nvPicPr>
          <p:cNvPr id="17" name="Picture 16" descr="panorama_bogota.jpg"/>
          <p:cNvPicPr>
            <a:picLocks noChangeAspect="1"/>
          </p:cNvPicPr>
          <p:nvPr/>
        </p:nvPicPr>
        <p:blipFill>
          <a:blip r:embed="rId2"/>
          <a:srcRect l="4957" r="4957"/>
          <a:stretch>
            <a:fillRect/>
          </a:stretch>
        </p:blipFill>
        <p:spPr>
          <a:xfrm>
            <a:off x="4892040" y="1307592"/>
            <a:ext cx="6647688" cy="49194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892040" y="5870448"/>
            <a:ext cx="6647688" cy="356616"/>
          </a:xfrm>
          <a:prstGeom prst="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5952744"/>
            <a:ext cx="6126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Lato"/>
              </a:rPr>
              <a:t>A VIEW OVER THE CAPITAL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9672"/>
            <a:ext cx="8595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17067"/>
                </a:solidFill>
                <a:latin typeface="Lato"/>
              </a:rPr>
              <a:t>GA2-240202501-AA2-EV02  ·  JHON STEVEN ALVAREZ RUIZ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17067"/>
                </a:solidFill>
                <a:latin typeface="Lato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3C9DD"/>
                </a:solidFill>
                <a:latin typeface="Lato"/>
              </a:rPr>
              <a:t>02  ·  WHAT CAN VISITORS FIND?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9875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Lato"/>
              </a:rPr>
              <a:t>Main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0881360" cy="32004"/>
          </a:xfrm>
          <a:prstGeom prst="rect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asilica_monserrate.jpg"/>
          <p:cNvPicPr>
            <a:picLocks noChangeAspect="1"/>
          </p:cNvPicPr>
          <p:nvPr/>
        </p:nvPicPr>
        <p:blipFill>
          <a:blip r:embed="rId2"/>
          <a:srcRect t="1673" b="1673"/>
          <a:stretch>
            <a:fillRect/>
          </a:stretch>
        </p:blipFill>
        <p:spPr>
          <a:xfrm>
            <a:off x="658368" y="1371600"/>
            <a:ext cx="3794760" cy="2057400"/>
          </a:xfrm>
          <a:prstGeom prst="rect">
            <a:avLst/>
          </a:prstGeom>
        </p:spPr>
      </p:pic>
      <p:pic>
        <p:nvPicPr>
          <p:cNvPr id="6" name="Picture 5" descr="teleferico_monserrate.jpg"/>
          <p:cNvPicPr>
            <a:picLocks noChangeAspect="1"/>
          </p:cNvPicPr>
          <p:nvPr/>
        </p:nvPicPr>
        <p:blipFill>
          <a:blip r:embed="rId3"/>
          <a:srcRect t="9082" b="9082"/>
          <a:stretch>
            <a:fillRect/>
          </a:stretch>
        </p:blipFill>
        <p:spPr>
          <a:xfrm>
            <a:off x="658368" y="3675887"/>
            <a:ext cx="3794760" cy="2057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00600" y="1417320"/>
            <a:ext cx="3108960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65192" y="1600200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4336" y="163220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581912"/>
            <a:ext cx="2267712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Basilica of the Fallen Lord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108960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94192" y="1600200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63220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581912"/>
            <a:ext cx="2267712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Way of the Cross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816352"/>
            <a:ext cx="3108960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65192" y="2999232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3031236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980944"/>
            <a:ext cx="2267712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Panoramic viewpoints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816352"/>
            <a:ext cx="3108960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94192" y="2999232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3031236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980944"/>
            <a:ext cx="2267712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Cable car and funicular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4215384"/>
            <a:ext cx="3108960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65192" y="4398264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4336" y="4430268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379976"/>
            <a:ext cx="2267712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High Andean forest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215384"/>
            <a:ext cx="3108960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4398264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6" y="4430268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379976"/>
            <a:ext cx="2267712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Restaurants and local food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897880"/>
            <a:ext cx="6537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3C9DD"/>
                </a:solidFill>
                <a:latin typeface="Lato"/>
              </a:rPr>
              <a:t>RELIGIOUS  ·  CULTURAL  ·  URBAN  ·  NATURAL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8595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ato"/>
              </a:rPr>
              <a:t>GA2-240202501-AA2-EV02  ·  JHON STEVEN ALVAREZ RUIZ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Lato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A900"/>
                </a:solidFill>
                <a:latin typeface="Lato"/>
              </a:rPr>
              <a:t>03  ·  WHAT IS IT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9875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31C"/>
                </a:solidFill>
                <a:latin typeface="Lato"/>
              </a:rPr>
              <a:t>Description of the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0881360" cy="32004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norama_bogota.jpg"/>
          <p:cNvPicPr>
            <a:picLocks noChangeAspect="1"/>
          </p:cNvPicPr>
          <p:nvPr/>
        </p:nvPicPr>
        <p:blipFill>
          <a:blip r:embed="rId2"/>
          <a:srcRect t="168" b="168"/>
          <a:stretch>
            <a:fillRect/>
          </a:stretch>
        </p:blipFill>
        <p:spPr>
          <a:xfrm>
            <a:off x="658368" y="1353312"/>
            <a:ext cx="681228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54112" y="1463040"/>
            <a:ext cx="3767328" cy="850392"/>
          </a:xfrm>
          <a:prstGeom prst="roundRect">
            <a:avLst/>
          </a:prstGeom>
          <a:solidFill>
            <a:srgbClr val="EA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591056"/>
            <a:ext cx="3337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3B2A"/>
                </a:solidFill>
                <a:latin typeface="Lato"/>
              </a:rPr>
              <a:t>HIGH · GREEN · STEEP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17067"/>
                </a:solidFill>
                <a:latin typeface="Lato"/>
              </a:rPr>
              <a:t>the mountain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2542032"/>
            <a:ext cx="3767328" cy="850392"/>
          </a:xfrm>
          <a:prstGeom prst="round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670048"/>
            <a:ext cx="3337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3B2A"/>
                </a:solidFill>
                <a:latin typeface="Lato"/>
              </a:rPr>
              <a:t>COOL · CHANGEABLE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999232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17067"/>
                </a:solidFill>
                <a:latin typeface="Lato"/>
              </a:rPr>
              <a:t>the weather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3621024"/>
            <a:ext cx="3767328" cy="850392"/>
          </a:xfrm>
          <a:prstGeom prst="roundRect">
            <a:avLst/>
          </a:prstGeom>
          <a:solidFill>
            <a:srgbClr val="EA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337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3B2A"/>
                </a:solidFill>
                <a:latin typeface="Lato"/>
              </a:rPr>
              <a:t>WIDE · IMPRESSIVE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078224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17067"/>
                </a:solidFill>
                <a:latin typeface="Lato"/>
              </a:rPr>
              <a:t>the city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4700016"/>
            <a:ext cx="3767328" cy="850392"/>
          </a:xfrm>
          <a:prstGeom prst="round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828032"/>
            <a:ext cx="3337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3B2A"/>
                </a:solidFill>
                <a:latin typeface="Lato"/>
              </a:rPr>
              <a:t>CALM · RESPECTFUL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157216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17067"/>
                </a:solidFill>
                <a:latin typeface="Lato"/>
              </a:rPr>
              <a:t>inside the basilica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879592"/>
            <a:ext cx="10863072" cy="34747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52744"/>
            <a:ext cx="10332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NATURE   ·   CULTURE   ·   RELIGION   ·  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9672"/>
            <a:ext cx="8595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17067"/>
                </a:solidFill>
                <a:latin typeface="Lato"/>
              </a:rPr>
              <a:t>GA2-240202501-AA2-EV02  ·  JHON STEVEN ALVAREZ RUIZ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17067"/>
                </a:solidFill>
                <a:latin typeface="Lato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A900"/>
                </a:solidFill>
                <a:latin typeface="Lato"/>
              </a:rPr>
              <a:t>04  ·  WHAT CAN PEOPLE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9875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31C"/>
                </a:solidFill>
                <a:latin typeface="Lato"/>
              </a:rPr>
              <a:t>Activities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0881360" cy="32004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norama_bogota.jpg"/>
          <p:cNvPicPr>
            <a:picLocks noChangeAspect="1"/>
          </p:cNvPicPr>
          <p:nvPr/>
        </p:nvPicPr>
        <p:blipFill>
          <a:blip r:embed="rId2"/>
          <a:srcRect t="19568" b="19568"/>
          <a:stretch>
            <a:fillRect/>
          </a:stretch>
        </p:blipFill>
        <p:spPr>
          <a:xfrm>
            <a:off x="658368" y="1307592"/>
            <a:ext cx="3493008" cy="1417320"/>
          </a:xfrm>
          <a:prstGeom prst="rect">
            <a:avLst/>
          </a:prstGeom>
        </p:spPr>
      </p:pic>
      <p:pic>
        <p:nvPicPr>
          <p:cNvPr id="6" name="Picture 5" descr="basilica_monserrate.jpg"/>
          <p:cNvPicPr>
            <a:picLocks noChangeAspect="1"/>
          </p:cNvPicPr>
          <p:nvPr/>
        </p:nvPicPr>
        <p:blipFill>
          <a:blip r:embed="rId3"/>
          <a:srcRect t="13832" b="13832"/>
          <a:stretch>
            <a:fillRect/>
          </a:stretch>
        </p:blipFill>
        <p:spPr>
          <a:xfrm>
            <a:off x="4343400" y="1307592"/>
            <a:ext cx="3493008" cy="1417320"/>
          </a:xfrm>
          <a:prstGeom prst="rect">
            <a:avLst/>
          </a:prstGeom>
        </p:spPr>
      </p:pic>
      <p:pic>
        <p:nvPicPr>
          <p:cNvPr id="7" name="Picture 6" descr="teleferico_monserrate.jpg"/>
          <p:cNvPicPr>
            <a:picLocks noChangeAspect="1"/>
          </p:cNvPicPr>
          <p:nvPr/>
        </p:nvPicPr>
        <p:blipFill>
          <a:blip r:embed="rId4"/>
          <a:srcRect t="19377" b="19377"/>
          <a:stretch>
            <a:fillRect/>
          </a:stretch>
        </p:blipFill>
        <p:spPr>
          <a:xfrm>
            <a:off x="8028431" y="1307592"/>
            <a:ext cx="3493008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3063240"/>
            <a:ext cx="349300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3246120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327812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227832"/>
            <a:ext cx="26517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Take panoramic photographs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063240"/>
            <a:ext cx="349300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7992" y="3246120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27812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27832"/>
            <a:ext cx="26517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Visit the sanctuary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063240"/>
            <a:ext cx="349300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93024" y="3246120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327812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3227832"/>
            <a:ext cx="26517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Ride the cable car or funicular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89120"/>
            <a:ext cx="349300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" y="4572000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460400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53712"/>
            <a:ext cx="26517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Hike 2.35 km and 1,605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389120"/>
            <a:ext cx="349300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07992" y="4572000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60400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53712"/>
            <a:ext cx="26517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Try Colombian food and coffee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2" y="4389120"/>
            <a:ext cx="349300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93024" y="4572000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460400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4553712"/>
            <a:ext cx="26517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Observe birds on the Paramuno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8595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17067"/>
                </a:solidFill>
                <a:latin typeface="Lato"/>
              </a:rPr>
              <a:t>GA2-240202501-AA2-EV02  ·  JHON STEVEN ALVAREZ RUIZ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17067"/>
                </a:solidFill>
                <a:latin typeface="Lato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3C9DD"/>
                </a:solidFill>
                <a:latin typeface="Lato"/>
              </a:rPr>
              <a:t>05  ·  A PERSONAL POINT OF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9875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Lato"/>
              </a:rPr>
              <a:t>My Opinion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0881360" cy="32004"/>
          </a:xfrm>
          <a:prstGeom prst="rect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norama_bogota.jpg"/>
          <p:cNvPicPr>
            <a:picLocks noChangeAspect="1"/>
          </p:cNvPicPr>
          <p:nvPr/>
        </p:nvPicPr>
        <p:blipFill>
          <a:blip r:embed="rId2"/>
          <a:srcRect l="12118" r="12118"/>
          <a:stretch>
            <a:fillRect/>
          </a:stretch>
        </p:blipFill>
        <p:spPr>
          <a:xfrm>
            <a:off x="658368" y="1353312"/>
            <a:ext cx="5559552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65392" y="1353312"/>
            <a:ext cx="4956048" cy="4892040"/>
          </a:xfrm>
          <a:prstGeom prst="round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627632"/>
            <a:ext cx="73152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39A900"/>
                </a:solidFill>
                <a:latin typeface="Lato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2029968"/>
            <a:ext cx="4096512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31C"/>
                </a:solidFill>
                <a:latin typeface="Lato"/>
              </a:rPr>
              <a:t>In my opinion, Monserrate is one of Bogotá’s most complete attractions.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3767328"/>
            <a:ext cx="146304" cy="146304"/>
          </a:xfrm>
          <a:prstGeom prst="round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3730752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23B2A"/>
                </a:solidFill>
                <a:latin typeface="Lato"/>
              </a:rPr>
              <a:t>My favorite feature: the panoramic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4370832"/>
            <a:ext cx="146304" cy="146304"/>
          </a:xfrm>
          <a:prstGeom prst="round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4334256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23B2A"/>
                </a:solidFill>
                <a:latin typeface="Lato"/>
              </a:rPr>
              <a:t>Nature + City + Tradition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9168" y="4974336"/>
            <a:ext cx="146304" cy="146304"/>
          </a:xfrm>
          <a:prstGeom prst="round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493776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23B2A"/>
                </a:solidFill>
                <a:latin typeface="Lato"/>
              </a:rPr>
              <a:t>For families, friends, and tourists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9672"/>
            <a:ext cx="8595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ato"/>
              </a:rPr>
              <a:t>GA2-240202501-AA2-EV02  ·  JHON STEVEN ALVAREZ RUIZ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Lato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A900"/>
                </a:solidFill>
                <a:latin typeface="Lato"/>
              </a:rPr>
              <a:t>06  ·  BEFORE YOU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9875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31C"/>
                </a:solidFill>
                <a:latin typeface="Lato"/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0881360" cy="32004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528523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554480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158648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536192"/>
            <a:ext cx="4443984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Check the official opening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85232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82512" y="1554480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586484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536192"/>
            <a:ext cx="4443984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Wear comfortable shoes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06624"/>
            <a:ext cx="528523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2889504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" y="2921508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871216"/>
            <a:ext cx="4443984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Bring water, sunscreen, and a rain jacket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06624"/>
            <a:ext cx="5285232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2512" y="2889504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921508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871216"/>
            <a:ext cx="4443984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Walk slowly because of the altitude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41648"/>
            <a:ext cx="528523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59" y="4224528"/>
            <a:ext cx="384048" cy="384048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" y="4256532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at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206240"/>
            <a:ext cx="4443984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31C"/>
                </a:solidFill>
                <a:latin typeface="Lato"/>
              </a:rPr>
              <a:t>Use official routes and follow instructions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41648"/>
            <a:ext cx="5285232" cy="102412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2512" y="4224528"/>
            <a:ext cx="384048" cy="384048"/>
          </a:xfrm>
          <a:prstGeom prst="ellipse">
            <a:avLst/>
          </a:prstGeom>
          <a:solidFill>
            <a:srgbClr val="83C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4256532"/>
            <a:ext cx="365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2A1D"/>
                </a:solidFill>
                <a:latin typeface="Lat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206240"/>
            <a:ext cx="4443984" cy="7223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ato"/>
              </a:rPr>
              <a:t>Keep the place clean and respect worshipers</a:t>
            </a:r>
          </a:p>
        </p:txBody>
      </p:sp>
      <p:pic>
        <p:nvPicPr>
          <p:cNvPr id="29" name="Picture 28" descr="teleferico_monserrate.jpg"/>
          <p:cNvPicPr>
            <a:picLocks noChangeAspect="1"/>
          </p:cNvPicPr>
          <p:nvPr/>
        </p:nvPicPr>
        <p:blipFill>
          <a:blip r:embed="rId2"/>
          <a:srcRect t="45680" b="45680"/>
          <a:stretch>
            <a:fillRect/>
          </a:stretch>
        </p:blipFill>
        <p:spPr>
          <a:xfrm>
            <a:off x="658368" y="5559552"/>
            <a:ext cx="10863072" cy="62179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406640" y="5559552"/>
            <a:ext cx="4114800" cy="621792"/>
          </a:xfrm>
          <a:prstGeom prst="rect">
            <a:avLst/>
          </a:prstGeom>
          <a:solidFill>
            <a:srgbClr val="C7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1" y="5733288"/>
            <a:ext cx="3785615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Lato"/>
              </a:rPr>
              <a:t>CHECK OFFICIAL HOURS BEFORE YOU 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8595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17067"/>
                </a:solidFill>
                <a:latin typeface="Lato"/>
              </a:rPr>
              <a:t>GA2-240202501-AA2-EV02  ·  JHON STEVEN ALVAREZ RUIZ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17067"/>
                </a:solidFill>
                <a:latin typeface="Lato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ilica_monserrate.jpg"/>
          <p:cNvPicPr>
            <a:picLocks noChangeAspect="1"/>
          </p:cNvPicPr>
          <p:nvPr/>
        </p:nvPicPr>
        <p:blipFill>
          <a:blip r:embed="rId2"/>
          <a:srcRect l="15684" r="15684"/>
          <a:stretch>
            <a:fillRect/>
          </a:stretch>
        </p:blipFill>
        <p:spPr>
          <a:xfrm>
            <a:off x="5532120" y="0"/>
            <a:ext cx="6656832" cy="5440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13248" y="0"/>
            <a:ext cx="118872" cy="544068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4206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83C9DD"/>
                </a:solidFill>
                <a:latin typeface="Lato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438912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Lato"/>
              </a:rPr>
              <a:t>MONSERRATE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434340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Lato"/>
              </a:rPr>
              <a:t>connects Bogotá with nature, culture, and tradition.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401568"/>
            <a:ext cx="4315968" cy="749808"/>
          </a:xfrm>
          <a:prstGeom prst="round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21024"/>
            <a:ext cx="3886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Lato"/>
              </a:rPr>
              <a:t>THANK YOU FOR WATCHING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736592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9DD"/>
                </a:solidFill>
                <a:latin typeface="Lato"/>
              </a:rPr>
              <a:t>Jhon Steven Alvarez Ruiz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596128"/>
            <a:ext cx="3291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23B2A"/>
                </a:solidFill>
                <a:latin typeface="Lato"/>
              </a:rPr>
              <a:t>FACTS AND VISITOR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33872"/>
            <a:ext cx="43891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23B2A"/>
                </a:solidFill>
                <a:latin typeface="Lato"/>
                <a:hlinkClick r:id="rId3"/>
              </a:rPr>
              <a:t>Visit Bogotá · Cerro de Monserrate · IDRD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5596128"/>
            <a:ext cx="2651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23B2A"/>
                </a:solidFill>
                <a:latin typeface="Lato"/>
              </a:rPr>
              <a:t>IMAGE CREDITS · CC BY-SA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5833872"/>
            <a:ext cx="59893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067"/>
                </a:solidFill>
                <a:latin typeface="Lato"/>
              </a:rPr>
              <a:t>Jimmy Gómez N · Javadumper · diego_cue / Wikimedia Commons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17067"/>
                </a:solidFill>
                <a:latin typeface="Lato"/>
              </a:rPr>
              <a:t>GA2-240202501-AA2-EV02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731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17067"/>
                </a:solidFill>
                <a:latin typeface="Lato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Monserrate: Bogotá from the Sky</dc:title>
  <dc:subject>GA2-240202501-AA2-EV02 — Tourist site presentation</dc:subject>
  <dc:creator>Jhon Steven Alvarez Ruiz</dc:creator>
  <cp:keywords>SENA, English, Monserrate, Bogotá, tourist site</cp:keywords>
  <dc:description>generated using python-pptx</dc:description>
  <cp:lastModifiedBy>Jhon Steven Alvarez Ruiz</cp:lastModifiedBy>
  <cp:revision>1</cp:revision>
  <dcterms:created xsi:type="dcterms:W3CDTF">2013-01-27T09:14:16Z</dcterms:created>
  <dcterms:modified xsi:type="dcterms:W3CDTF">2013-01-27T09:15:58Z</dcterms:modified>
  <cp:category/>
</cp:coreProperties>
</file>